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43"/>
  </p:notesMasterIdLst>
  <p:sldIdLst>
    <p:sldId id="256" r:id="rId2"/>
    <p:sldId id="346" r:id="rId3"/>
    <p:sldId id="349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61" r:id="rId13"/>
    <p:sldId id="350" r:id="rId14"/>
    <p:sldId id="360" r:id="rId15"/>
    <p:sldId id="363" r:id="rId16"/>
    <p:sldId id="359" r:id="rId17"/>
    <p:sldId id="362" r:id="rId18"/>
    <p:sldId id="366" r:id="rId19"/>
    <p:sldId id="364" r:id="rId20"/>
    <p:sldId id="365" r:id="rId21"/>
    <p:sldId id="367" r:id="rId22"/>
    <p:sldId id="347" r:id="rId23"/>
    <p:sldId id="370" r:id="rId24"/>
    <p:sldId id="371" r:id="rId25"/>
    <p:sldId id="372" r:id="rId26"/>
    <p:sldId id="378" r:id="rId27"/>
    <p:sldId id="379" r:id="rId28"/>
    <p:sldId id="369" r:id="rId29"/>
    <p:sldId id="368" r:id="rId30"/>
    <p:sldId id="348" r:id="rId31"/>
    <p:sldId id="373" r:id="rId32"/>
    <p:sldId id="374" r:id="rId33"/>
    <p:sldId id="375" r:id="rId34"/>
    <p:sldId id="376" r:id="rId35"/>
    <p:sldId id="377" r:id="rId36"/>
    <p:sldId id="380" r:id="rId37"/>
    <p:sldId id="381" r:id="rId38"/>
    <p:sldId id="383" r:id="rId39"/>
    <p:sldId id="384" r:id="rId40"/>
    <p:sldId id="385" r:id="rId41"/>
    <p:sldId id="382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C03FE-5F74-4FFA-ACBB-71B7FABF3CA5}">
          <p14:sldIdLst>
            <p14:sldId id="256"/>
            <p14:sldId id="346"/>
            <p14:sldId id="349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61"/>
            <p14:sldId id="350"/>
            <p14:sldId id="360"/>
            <p14:sldId id="363"/>
            <p14:sldId id="359"/>
            <p14:sldId id="362"/>
            <p14:sldId id="366"/>
            <p14:sldId id="364"/>
            <p14:sldId id="365"/>
            <p14:sldId id="367"/>
            <p14:sldId id="347"/>
            <p14:sldId id="370"/>
            <p14:sldId id="371"/>
            <p14:sldId id="372"/>
            <p14:sldId id="378"/>
            <p14:sldId id="379"/>
            <p14:sldId id="369"/>
            <p14:sldId id="368"/>
            <p14:sldId id="348"/>
            <p14:sldId id="373"/>
            <p14:sldId id="374"/>
            <p14:sldId id="375"/>
            <p14:sldId id="376"/>
            <p14:sldId id="377"/>
            <p14:sldId id="380"/>
            <p14:sldId id="381"/>
            <p14:sldId id="383"/>
            <p14:sldId id="384"/>
            <p14:sldId id="385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5-30T16:02:05.64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26 39 0,'-19'0'157,"19"-39"-126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FAF3-2354-A344-8D47-C53695DD29E3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ED49-4AB3-C248-9765-49A40CC5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5ED49-4AB3-C248-9765-49A40CC56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7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049CF-D0CC-4618-B47A-958F7DBA7754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988" y="2164360"/>
            <a:ext cx="5122411" cy="951320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Estadística</a:t>
            </a:r>
            <a:r>
              <a:rPr lang="en-US" sz="48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Computacional</a:t>
            </a:r>
            <a:endParaRPr lang="en-US" sz="48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466" y="5061723"/>
            <a:ext cx="6858000" cy="1655762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Berlin Sans FB" panose="020E0602020502020306" pitchFamily="34" charset="0"/>
              </a:rPr>
              <a:t>Clase 6    2016/09/14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9146280" y="-75000"/>
              <a:ext cx="9720" cy="14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000" y="-83280"/>
                <a:ext cx="262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1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24"/>
    </mc:Choice>
    <mc:Fallback xmlns="">
      <p:transition spd="slow" advTm="39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8257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B) </a:t>
            </a:r>
            <a:r>
              <a:rPr lang="es-MX" dirty="0" err="1"/>
              <a:t>MonteCarlo</a:t>
            </a:r>
            <a:r>
              <a:rPr lang="es-MX" dirty="0"/>
              <a:t> como técnica de integración y la maldición de la </a:t>
            </a:r>
            <a:r>
              <a:rPr lang="es-MX" dirty="0" err="1"/>
              <a:t>dimensionalidad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07639"/>
                <a:ext cx="7886700" cy="376932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Si queremos calcular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vaiid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Esta técnica de simulación es la más simple y se conoce como </a:t>
                </a:r>
                <a:r>
                  <a:rPr lang="es-MX" dirty="0">
                    <a:solidFill>
                      <a:srgbClr val="FF0000"/>
                    </a:solidFill>
                  </a:rPr>
                  <a:t>MONTE CARLO CRUDO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07639"/>
                <a:ext cx="7886700" cy="3769323"/>
              </a:xfrm>
              <a:blipFill>
                <a:blip r:embed="rId4"/>
                <a:stretch>
                  <a:fillRect l="-1546" r="-1546" b="-291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99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01355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Pregunta básica: ¿Cómo se compara MC crudo con otras técnicas determinísticas de integración?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041" y="2457974"/>
            <a:ext cx="7886700" cy="3609932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Las técnicas de integración en análisis numérico se conocen como </a:t>
            </a:r>
            <a:r>
              <a:rPr lang="es-MX" b="1" dirty="0">
                <a:solidFill>
                  <a:srgbClr val="FF0000"/>
                </a:solidFill>
              </a:rPr>
              <a:t>técnicas de cuadratura</a:t>
            </a:r>
            <a:endParaRPr lang="es-MX" dirty="0">
              <a:solidFill>
                <a:srgbClr val="FF0000"/>
              </a:solidFill>
            </a:endParaRPr>
          </a:p>
        </p:txBody>
      </p:sp>
      <p:pic>
        <p:nvPicPr>
          <p:cNvPr id="1028" name="Picture 4" descr="Image result for numerical integ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444" y="3748088"/>
            <a:ext cx="34290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86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Técnicas de cuadratura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MX" dirty="0"/>
                  <a:t>Existe distintas técnicas con distintas precisiones… Algunas famosas son</a:t>
                </a:r>
              </a:p>
              <a:p>
                <a:pPr marL="514350" indent="-514350">
                  <a:buAutoNum type="arabicParenBoth"/>
                </a:pPr>
                <a:r>
                  <a:rPr lang="es-MX" dirty="0"/>
                  <a:t>Regla rectangular         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514350" indent="-514350">
                  <a:buAutoNum type="arabicParenBoth"/>
                </a:pPr>
                <a:r>
                  <a:rPr lang="es-MX" dirty="0"/>
                  <a:t>Regla del </a:t>
                </a:r>
                <a:r>
                  <a:rPr lang="es-MX" dirty="0" err="1"/>
                  <a:t>trapecio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b="0" i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514350" indent="-514350">
                  <a:buAutoNum type="arabicParenBoth"/>
                </a:pPr>
                <a:r>
                  <a:rPr lang="es-MX" dirty="0"/>
                  <a:t>Regla de Simpson </a:t>
                </a:r>
                <a14:m>
                  <m:oMath xmlns:m="http://schemas.openxmlformats.org/officeDocument/2006/math">
                    <m:r>
                      <a:rPr lang="es-MX" b="0" i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514350" indent="-514350">
                  <a:buAutoNum type="arabicParenBoth"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La precisión es la velocidad de convergencia. La velocidad está determinado por la convergencia más lenta que es posible ver.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40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 rectangular</a:t>
            </a:r>
          </a:p>
        </p:txBody>
      </p:sp>
      <p:pic>
        <p:nvPicPr>
          <p:cNvPr id="2050" name="Picture 2" descr="http://tutorial.math.lamar.edu/Classes/CalcII/ApproximatingDefIntegrals_files/image00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88" y="1578841"/>
            <a:ext cx="34290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770" y="2480920"/>
            <a:ext cx="3391023" cy="83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0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 trapecio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397" y="2185641"/>
            <a:ext cx="4143953" cy="895475"/>
          </a:xfrm>
        </p:spPr>
      </p:pic>
      <p:pic>
        <p:nvPicPr>
          <p:cNvPr id="3074" name="Picture 2" descr="http://www.mathwords.com/t/t_assets/t5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07" y="2475974"/>
            <a:ext cx="4068661" cy="361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8650" y="1555723"/>
            <a:ext cx="8100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Equivale a interpolar una recta por cada dos puntos en la partición</a:t>
            </a:r>
          </a:p>
        </p:txBody>
      </p:sp>
    </p:spTree>
    <p:extLst>
      <p:ext uri="{BB962C8B-B14F-4D97-AF65-F5344CB8AC3E}">
        <p14:creationId xmlns:p14="http://schemas.microsoft.com/office/powerpoint/2010/main" val="294012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 Simpson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982" y="1540400"/>
            <a:ext cx="7886700" cy="4351338"/>
          </a:xfrm>
        </p:spPr>
        <p:txBody>
          <a:bodyPr/>
          <a:lstStyle/>
          <a:p>
            <a:r>
              <a:rPr lang="es-MX" dirty="0"/>
              <a:t>Es un ejemplo de técnica de interpolación </a:t>
            </a:r>
            <a:r>
              <a:rPr lang="es-MX" dirty="0" err="1"/>
              <a:t>polinomial</a:t>
            </a:r>
            <a:r>
              <a:rPr lang="es-MX" dirty="0"/>
              <a:t>.  Utiliza tres puntos y la integral corresponde a la integral de un polinomio cuadrático que pasa por esos puntos</a:t>
            </a:r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098" name="Picture 2" descr="Image result for simpsons ru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540" y="3083292"/>
            <a:ext cx="3108852" cy="280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2" y="3716068"/>
            <a:ext cx="4973688" cy="80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9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se determina la velocidad de convergencia?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 vamos a mostrar los pasos necesarios para llegar a la estimación precisa del error…</a:t>
            </a:r>
          </a:p>
          <a:p>
            <a:pPr marL="0" indent="0">
              <a:buNone/>
            </a:pPr>
            <a:r>
              <a:rPr lang="es-MX" b="1" dirty="0">
                <a:solidFill>
                  <a:srgbClr val="FF0000"/>
                </a:solidFill>
              </a:rPr>
              <a:t>TEOREMA DE TAYLOR </a:t>
            </a:r>
            <a:r>
              <a:rPr lang="es-MX" dirty="0"/>
              <a:t>Toda función es aproximadamente un polinomio más un error que depende del tamaño del intervalo de aproximación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02" y="4164431"/>
            <a:ext cx="8582462" cy="13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3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Teorema Taylor</a:t>
            </a:r>
          </a:p>
        </p:txBody>
      </p:sp>
      <p:pic>
        <p:nvPicPr>
          <p:cNvPr id="5122" name="Picture 2" descr="https://upload.wikimedia.org/wikipedia/commons/thumb/6/64/Taylorspolynomialexbig.svg/300px-Taylorspolynomialexbig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455" y="1906546"/>
            <a:ext cx="5338021" cy="427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5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Integrales impropias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Existen transformaciones para convertirles integrales impropias en propias (se usa la </a:t>
            </a:r>
            <a:r>
              <a:rPr lang="es-MX" b="1" dirty="0"/>
              <a:t>regla de cambio de variable</a:t>
            </a:r>
            <a:r>
              <a:rPr lang="es-MX" dirty="0"/>
              <a:t> de cálculo)…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02" y="3306211"/>
            <a:ext cx="5668166" cy="962159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88" y="4422180"/>
            <a:ext cx="535379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2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La conclusión es que estudiar integrales propias es suficiente, de hecho, basta con estudiarlas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es-MX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07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Ejemplo… hagamos la función de acumulación de una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Trapecio vs </a:t>
            </a:r>
            <a:r>
              <a:rPr lang="es-MX" dirty="0" err="1"/>
              <a:t>MonteCarlo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9868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Integrales múltiples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Se puede plantear como un problema recursivo… por ejemplo…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Se puede expresar como…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con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53" y="2446146"/>
            <a:ext cx="3391373" cy="1076475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898" y="5433191"/>
            <a:ext cx="3277057" cy="504895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583" y="4143142"/>
            <a:ext cx="204816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9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Problema: Número de puntos necesarios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En un problema de dimensión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MX" dirty="0"/>
                  <a:t>, dividiendo cada eje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MX" dirty="0"/>
                  <a:t> puntos nos quedamos con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s-MX" dirty="0"/>
                  <a:t> puntos.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796" y="2927153"/>
            <a:ext cx="5975182" cy="33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2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Las velocidades de convergencia son: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s-MX" dirty="0"/>
                  <a:t>Regla rectangular         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−1/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s-MX" dirty="0"/>
                  <a:t>Regla del </a:t>
                </a:r>
                <a:r>
                  <a:rPr lang="es-MX" dirty="0" err="1"/>
                  <a:t>trapecio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−2/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s-MX" dirty="0"/>
                  <a:t>Regla de Simpson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−4/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Esta es la </a:t>
                </a:r>
                <a:r>
                  <a:rPr lang="es-MX" b="1" dirty="0"/>
                  <a:t>maldición de la </a:t>
                </a:r>
                <a:r>
                  <a:rPr lang="es-MX" b="1" dirty="0" err="1"/>
                  <a:t>dimensionalidad</a:t>
                </a:r>
                <a:endParaRPr lang="es-MX" dirty="0"/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00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Hagamos un programa recursivo…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Abramos R</a:t>
            </a:r>
          </a:p>
        </p:txBody>
      </p:sp>
    </p:spTree>
    <p:extLst>
      <p:ext uri="{BB962C8B-B14F-4D97-AF65-F5344CB8AC3E}">
        <p14:creationId xmlns:p14="http://schemas.microsoft.com/office/powerpoint/2010/main" val="4027110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MonteCarlo</a:t>
            </a:r>
            <a:r>
              <a:rPr lang="es-MX" dirty="0"/>
              <a:t> la resuelve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Independientemente de la dimensión, siempre tiene convergencia del tipo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s-MX" dirty="0"/>
                  <a:t>…</a:t>
                </a:r>
              </a:p>
              <a:p>
                <a:endParaRPr lang="es-MX" dirty="0"/>
              </a:p>
              <a:p>
                <a:endParaRPr lang="es-MX" dirty="0"/>
              </a:p>
              <a:p>
                <a:r>
                  <a:rPr lang="es-MX" dirty="0"/>
                  <a:t>Las técnicas de simulación por Monte Carlo son soy hoy en día utilizadas de forma estándar en finanzas para </a:t>
                </a:r>
                <a:r>
                  <a:rPr lang="es-MX" b="1" dirty="0">
                    <a:solidFill>
                      <a:srgbClr val="FF0000"/>
                    </a:solidFill>
                  </a:rPr>
                  <a:t>valuación de opciones</a:t>
                </a:r>
                <a:r>
                  <a:rPr lang="es-MX" b="1" dirty="0"/>
                  <a:t> </a:t>
                </a:r>
                <a:r>
                  <a:rPr lang="es-MX" dirty="0"/>
                  <a:t>y en modelos actuariales para </a:t>
                </a:r>
                <a:r>
                  <a:rPr lang="es-MX" b="1" dirty="0">
                    <a:solidFill>
                      <a:srgbClr val="FF0000"/>
                    </a:solidFill>
                  </a:rPr>
                  <a:t>cálculo de reservas </a:t>
                </a:r>
                <a:r>
                  <a:rPr lang="es-MX" dirty="0"/>
                  <a:t>y modelación de </a:t>
                </a:r>
                <a:r>
                  <a:rPr lang="es-MX" b="1" dirty="0">
                    <a:solidFill>
                      <a:srgbClr val="FF0000"/>
                    </a:solidFill>
                  </a:rPr>
                  <a:t>escenarios de catástrofe.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381" r="-208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38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26" y="90501"/>
            <a:ext cx="7886700" cy="4130429"/>
          </a:xfrm>
        </p:spPr>
      </p:pic>
    </p:spTree>
    <p:extLst>
      <p:ext uri="{BB962C8B-B14F-4D97-AF65-F5344CB8AC3E}">
        <p14:creationId xmlns:p14="http://schemas.microsoft.com/office/powerpoint/2010/main" val="2022277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Ejemplo…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86" y="2178834"/>
            <a:ext cx="6535062" cy="1057423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3464653"/>
            <a:ext cx="3873326" cy="2487610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455" y="3358267"/>
            <a:ext cx="4315941" cy="269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45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acelerar la convergencia en Monte Carlo?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uso extensivo de Monte Carlo y su lenta convergencia a motivado la necesidad de técnicas de aceleración de convergencia….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Vamos a hablar de algunos ejemplos:</a:t>
            </a:r>
          </a:p>
          <a:p>
            <a:pPr marL="571500" indent="-571500">
              <a:buAutoNum type="romanUcParenR"/>
            </a:pPr>
            <a:r>
              <a:rPr lang="es-MX" dirty="0" err="1"/>
              <a:t>Importance</a:t>
            </a:r>
            <a:r>
              <a:rPr lang="es-MX" dirty="0"/>
              <a:t> </a:t>
            </a:r>
            <a:r>
              <a:rPr lang="es-MX" dirty="0" err="1"/>
              <a:t>Sampling</a:t>
            </a:r>
            <a:endParaRPr lang="es-MX" dirty="0"/>
          </a:p>
          <a:p>
            <a:pPr marL="571500" indent="-571500">
              <a:buAutoNum type="romanUcParenR"/>
            </a:pPr>
            <a:r>
              <a:rPr lang="es-MX" dirty="0"/>
              <a:t>Variables de Control</a:t>
            </a:r>
          </a:p>
          <a:p>
            <a:pPr marL="571500" indent="-571500">
              <a:buAutoNum type="romanUcParenR"/>
            </a:pPr>
            <a:r>
              <a:rPr lang="es-MX" dirty="0" err="1"/>
              <a:t>Quasi</a:t>
            </a:r>
            <a:r>
              <a:rPr lang="es-MX" dirty="0"/>
              <a:t> Monte Carlo</a:t>
            </a:r>
          </a:p>
        </p:txBody>
      </p:sp>
    </p:spTree>
    <p:extLst>
      <p:ext uri="{BB962C8B-B14F-4D97-AF65-F5344CB8AC3E}">
        <p14:creationId xmlns:p14="http://schemas.microsoft.com/office/powerpoint/2010/main" val="1142043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Existen muchísimas técnicas pero con estas tres tenemos una muestra de distintos enfoques…</a:t>
            </a:r>
          </a:p>
          <a:p>
            <a:pPr marL="571500" indent="-571500">
              <a:buAutoNum type="romanUcParenR"/>
            </a:pPr>
            <a:r>
              <a:rPr lang="es-MX" dirty="0" err="1"/>
              <a:t>Importance</a:t>
            </a:r>
            <a:r>
              <a:rPr lang="es-MX" dirty="0"/>
              <a:t> </a:t>
            </a:r>
            <a:r>
              <a:rPr lang="es-MX" dirty="0" err="1"/>
              <a:t>Sampling</a:t>
            </a:r>
            <a:r>
              <a:rPr lang="es-MX" dirty="0"/>
              <a:t> </a:t>
            </a:r>
            <a:r>
              <a:rPr lang="es-MX" i="1" dirty="0"/>
              <a:t>(cambiar la distribución de la cual simulamos)</a:t>
            </a:r>
          </a:p>
          <a:p>
            <a:pPr marL="571500" indent="-571500">
              <a:buAutoNum type="romanUcParenR"/>
            </a:pPr>
            <a:r>
              <a:rPr lang="es-MX" dirty="0"/>
              <a:t>Variables de Control </a:t>
            </a:r>
            <a:r>
              <a:rPr lang="es-MX" i="1" dirty="0"/>
              <a:t>(usar otra función que dependa de nuestros números para poder separar señal de ruido)</a:t>
            </a:r>
          </a:p>
          <a:p>
            <a:pPr marL="571500" indent="-571500">
              <a:buAutoNum type="romanUcParenR"/>
            </a:pPr>
            <a:r>
              <a:rPr lang="es-MX" dirty="0" err="1"/>
              <a:t>Quasi</a:t>
            </a:r>
            <a:r>
              <a:rPr lang="es-MX" dirty="0"/>
              <a:t> Monte Carlo (</a:t>
            </a:r>
            <a:r>
              <a:rPr lang="es-MX" i="1" dirty="0"/>
              <a:t>métodos no aleatorios pero que recuperen lo “bueno” de los aleatorios”)</a:t>
            </a:r>
          </a:p>
          <a:p>
            <a:pPr marL="571500" indent="-571500">
              <a:buAutoNum type="romanUcParenR"/>
            </a:pPr>
            <a:endParaRPr lang="es-MX" i="1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4536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1" y="1560352"/>
            <a:ext cx="7886700" cy="4616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….no necesitamos similar necesariamente de una uniforme… por ejemplo…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Cambiando la variable simulación… IMPORTANCE SAMPLING	</a:t>
            </a:r>
          </a:p>
        </p:txBody>
      </p:sp>
    </p:spTree>
    <p:extLst>
      <p:ext uri="{BB962C8B-B14F-4D97-AF65-F5344CB8AC3E}">
        <p14:creationId xmlns:p14="http://schemas.microsoft.com/office/powerpoint/2010/main" val="1720410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IMPORTANCE SAMPLING CON EL ENFOQUE DE INTEGRAL</a:t>
            </a:r>
            <a:br>
              <a:rPr lang="es-MX" dirty="0"/>
            </a:b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s-MX" dirty="0"/>
                  <a:t> es la función de densidad de una variable aleatoria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/>
                  <a:t> con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MX" dirty="0"/>
                  <a:t> en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MX" dirty="0"/>
                  <a:t> entonces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   =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Con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MX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s-MX" dirty="0"/>
                  <a:t> una constante de integración, si el soporte de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s-MX" dirty="0"/>
                  <a:t> entonces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932" b="-2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499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IMPORTANCE SAMPLING ENFOQUE PROBABILÍSTICO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s-MX" dirty="0"/>
                  <a:t>Si queremos calcular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y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/>
                  <a:t> es otra variable aleatoria con densidad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s-MX" dirty="0"/>
                  <a:t> entonces tenemos </a:t>
                </a:r>
                <a:r>
                  <a:rPr lang="es-MX" dirty="0" err="1"/>
                  <a:t>qe</a:t>
                </a:r>
                <a:endParaRPr lang="es-MX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s-MX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Y por lo tanto un estimador razonable 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/>
                  <a:t> se conoce como </a:t>
                </a:r>
                <a:r>
                  <a:rPr lang="es-MX" b="1" i="1" dirty="0" err="1"/>
                  <a:t>importance</a:t>
                </a:r>
                <a:r>
                  <a:rPr lang="es-MX" b="1" i="1" dirty="0"/>
                  <a:t> </a:t>
                </a:r>
                <a:r>
                  <a:rPr lang="es-MX" b="1" i="1" dirty="0" err="1"/>
                  <a:t>weights</a:t>
                </a: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101" b="-2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577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 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Lo más fácil de recordar es que mientras que en monte </a:t>
                </a:r>
                <a:r>
                  <a:rPr lang="es-MX" dirty="0" err="1"/>
                  <a:t>carlo</a:t>
                </a:r>
                <a:r>
                  <a:rPr lang="es-MX" dirty="0"/>
                  <a:t> crudo cada observación tiene peso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MX" dirty="0"/>
                  <a:t> aquí cada una tiene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s-MX" dirty="0"/>
                  <a:t>, cada observación tiene más o menos peso según la diferencia en densidades entre la que querías obtener y de la que simulaste.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25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436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88584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TRUCO PARA CALCULAR LOS PESOS </a:t>
            </a:r>
            <a:r>
              <a:rPr lang="es-MX" b="1" dirty="0" err="1"/>
              <a:t>w_i</a:t>
            </a:r>
            <a:r>
              <a:rPr lang="es-MX" b="1" dirty="0"/>
              <a:t> (pesos estandarizados) </a:t>
            </a:r>
            <a:br>
              <a:rPr lang="es-MX" b="1" dirty="0"/>
            </a:br>
            <a:endParaRPr lang="es-MX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103" y="3485935"/>
            <a:ext cx="2819794" cy="876422"/>
          </a:xfrm>
        </p:spPr>
      </p:pic>
    </p:spTree>
    <p:extLst>
      <p:ext uri="{BB962C8B-B14F-4D97-AF65-F5344CB8AC3E}">
        <p14:creationId xmlns:p14="http://schemas.microsoft.com/office/powerpoint/2010/main" val="3374920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88584"/>
            <a:ext cx="7886700" cy="1325563"/>
          </a:xfrm>
        </p:spPr>
        <p:txBody>
          <a:bodyPr>
            <a:normAutofit/>
          </a:bodyPr>
          <a:lstStyle/>
          <a:p>
            <a:r>
              <a:rPr lang="es-MX" b="1" dirty="0" err="1"/>
              <a:t>Algotirmo</a:t>
            </a:r>
            <a:r>
              <a:rPr lang="es-MX" b="1" dirty="0"/>
              <a:t> final</a:t>
            </a:r>
            <a:br>
              <a:rPr lang="es-MX" b="1" dirty="0"/>
            </a:br>
            <a:endParaRPr lang="es-MX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264723"/>
            <a:ext cx="7886700" cy="1473142"/>
          </a:xfrm>
        </p:spPr>
      </p:pic>
    </p:spTree>
    <p:extLst>
      <p:ext uri="{BB962C8B-B14F-4D97-AF65-F5344CB8AC3E}">
        <p14:creationId xmlns:p14="http://schemas.microsoft.com/office/powerpoint/2010/main" val="3208882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¿Cuál es la elección óptima de la variable aleatoria para simular?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i="1" dirty="0"/>
              <a:t>(pueden hacer las demostraciones como ejercicios fáciles)</a:t>
            </a:r>
          </a:p>
          <a:p>
            <a:pPr marL="514350" indent="-514350">
              <a:buAutoNum type="alphaLcParenR"/>
            </a:pPr>
            <a:r>
              <a:rPr lang="es-MX" dirty="0"/>
              <a:t>Mostrar que el estimador del </a:t>
            </a:r>
            <a:r>
              <a:rPr lang="es-MX" dirty="0" err="1"/>
              <a:t>importance</a:t>
            </a:r>
            <a:r>
              <a:rPr lang="es-MX" dirty="0"/>
              <a:t> </a:t>
            </a:r>
            <a:r>
              <a:rPr lang="es-MX" dirty="0" err="1"/>
              <a:t>sampling</a:t>
            </a:r>
            <a:r>
              <a:rPr lang="es-MX" dirty="0"/>
              <a:t> es </a:t>
            </a:r>
            <a:r>
              <a:rPr lang="es-MX" dirty="0" err="1"/>
              <a:t>insesgado</a:t>
            </a:r>
            <a:r>
              <a:rPr lang="es-MX" dirty="0"/>
              <a:t> y estimar su varianza.</a:t>
            </a:r>
          </a:p>
          <a:p>
            <a:pPr marL="0" indent="0">
              <a:buNone/>
            </a:pPr>
            <a:endParaRPr lang="es-MX" dirty="0"/>
          </a:p>
          <a:p>
            <a:pPr marL="514350" indent="-514350">
              <a:buAutoNum type="alphaLcParenR"/>
            </a:pPr>
            <a:r>
              <a:rPr lang="es-MX" dirty="0"/>
              <a:t>Conociendo su varianza se puede estimar y es:</a:t>
            </a:r>
          </a:p>
          <a:p>
            <a:pPr marL="514350" indent="-514350">
              <a:buAutoNum type="alphaLcParenR"/>
            </a:pPr>
            <a:endParaRPr lang="es-MX" dirty="0"/>
          </a:p>
          <a:p>
            <a:pPr marL="514350" indent="-514350">
              <a:buAutoNum type="alphaLcParenR"/>
            </a:pPr>
            <a:endParaRPr lang="es-MX" dirty="0"/>
          </a:p>
          <a:p>
            <a:pPr marL="514350" indent="-514350">
              <a:buAutoNum type="alphaLcParenR"/>
            </a:pPr>
            <a:endParaRPr lang="es-MX" dirty="0"/>
          </a:p>
          <a:p>
            <a:pPr marL="514350" indent="-514350">
              <a:buAutoNum type="alphaLcParenR"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847" y="4767621"/>
            <a:ext cx="5153744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37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443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c) ACELERAR CONVERGENCIA = MINIMIZAR VARIANZA.</a:t>
                </a:r>
              </a:p>
              <a:p>
                <a:pPr marL="0" indent="0">
                  <a:buNone/>
                </a:pPr>
                <a:r>
                  <a:rPr lang="es-MX" dirty="0"/>
                  <a:t>En consecuencia la elección de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es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i="1" dirty="0"/>
                  <a:t>(pueden ver los detalles en mis notas)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376" y="3463056"/>
            <a:ext cx="2781688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81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But</a:t>
            </a:r>
            <a:r>
              <a:rPr lang="es-MX" dirty="0"/>
              <a:t> real </a:t>
            </a:r>
            <a:r>
              <a:rPr lang="es-MX" dirty="0" err="1"/>
              <a:t>life</a:t>
            </a:r>
            <a:r>
              <a:rPr lang="es-MX" dirty="0"/>
              <a:t> hits…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Normalmente no sabemos simular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dirty="0"/>
                  <a:t>…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Sin embargo… La moraleja es que hay que simular más de donde el producto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s-MX" dirty="0"/>
                  <a:t> es mayor. Es decir,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debe ser más densa donde el producto de la función que queremos integrar y la de densidad original es mayor.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i="1" dirty="0"/>
                  <a:t>En </a:t>
                </a:r>
                <a:r>
                  <a:rPr lang="es-MX" i="1" dirty="0" err="1"/>
                  <a:t>Givens</a:t>
                </a:r>
                <a:r>
                  <a:rPr lang="es-MX" i="1" dirty="0"/>
                  <a:t> y </a:t>
                </a:r>
                <a:r>
                  <a:rPr lang="es-MX" i="1" dirty="0" err="1"/>
                  <a:t>Hoetings</a:t>
                </a:r>
                <a:r>
                  <a:rPr lang="es-MX" i="1" dirty="0"/>
                  <a:t> pueden ver algunas aplicaciones</a:t>
                </a:r>
              </a:p>
              <a:p>
                <a:pPr marL="0" indent="0">
                  <a:buNone/>
                </a:pPr>
                <a:r>
                  <a:rPr lang="es-MX" dirty="0"/>
                  <a:t>…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54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216" y="489671"/>
            <a:ext cx="2781688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34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II. Variables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idea es Monte Carlo tiene una parte de señal y una aleatoria. Podemos separarla observando otras variables correlacionadas.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5" y="3360156"/>
            <a:ext cx="8238513" cy="198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8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8" y="365128"/>
            <a:ext cx="7886700" cy="2190066"/>
          </a:xfrm>
        </p:spPr>
      </p:pic>
    </p:spTree>
    <p:extLst>
      <p:ext uri="{BB962C8B-B14F-4D97-AF65-F5344CB8AC3E}">
        <p14:creationId xmlns:p14="http://schemas.microsoft.com/office/powerpoint/2010/main" val="423076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27" y="2283172"/>
            <a:ext cx="7886700" cy="2563787"/>
          </a:xfrm>
        </p:spPr>
      </p:pic>
    </p:spTree>
    <p:extLst>
      <p:ext uri="{BB962C8B-B14F-4D97-AF65-F5344CB8AC3E}">
        <p14:creationId xmlns:p14="http://schemas.microsoft.com/office/powerpoint/2010/main" val="1861332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6" name="Content Placeholder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25625"/>
            <a:ext cx="7886700" cy="1045374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73" y="3504304"/>
            <a:ext cx="8045042" cy="163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97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Este ejemplo está en mis notas…</a:t>
            </a:r>
          </a:p>
          <a:p>
            <a:endParaRPr lang="es-MX" dirty="0"/>
          </a:p>
          <a:p>
            <a:r>
              <a:rPr lang="es-MX" dirty="0"/>
              <a:t>Vamos a calcular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El tipo de variable de control que usaremos es la forma más usual de aplicar variables de control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646" y="3604682"/>
            <a:ext cx="451548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00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03" y="267868"/>
            <a:ext cx="7886700" cy="3339467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7821"/>
            <a:ext cx="9144000" cy="135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95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89747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Usando técnicas de </a:t>
            </a:r>
            <a:r>
              <a:rPr lang="es-MX" b="1" dirty="0"/>
              <a:t>bootstrapping</a:t>
            </a:r>
            <a:r>
              <a:rPr lang="es-MX" dirty="0"/>
              <a:t> que veremos en la siguiente sección podemos estimar las velocidades de convergencia…</a:t>
            </a:r>
          </a:p>
        </p:txBody>
      </p:sp>
      <p:pic>
        <p:nvPicPr>
          <p:cNvPr id="6" name="Content Placeholder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86" y="2267804"/>
            <a:ext cx="6627828" cy="39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4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Quasi-MonteCarlo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Monte Carlo Crudo sirve porque nuestras variables están muy bien “distribuidas”.</a:t>
            </a:r>
          </a:p>
          <a:p>
            <a:pPr marL="0" indent="0">
              <a:buNone/>
            </a:pPr>
            <a:r>
              <a:rPr lang="es-MX" dirty="0"/>
              <a:t>La idea es usar sucesiones determinísticas que reproduzcan este comportamiento pero reduzcan ruido.</a:t>
            </a:r>
          </a:p>
          <a:p>
            <a:pPr marL="0" indent="0">
              <a:buNone/>
            </a:pPr>
            <a:r>
              <a:rPr lang="es-MX" dirty="0"/>
              <a:t>Se llaman. </a:t>
            </a:r>
            <a:r>
              <a:rPr lang="es-MX" b="1" dirty="0"/>
              <a:t>LOW-DISCREPANCY-SEQUENCIES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5630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6577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532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erlin Sans FB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AM_template" id="{7D120A73-849C-44A8-87A5-788BAA7B4F58}" vid="{4E4EBC5D-4B81-4724-9F37-7F7BD0002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13448</TotalTime>
  <Words>658</Words>
  <Application>Microsoft Office PowerPoint</Application>
  <PresentationFormat>On-screen Show (4:3)</PresentationFormat>
  <Paragraphs>126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Berlin Sans FB</vt:lpstr>
      <vt:lpstr>Calibri</vt:lpstr>
      <vt:lpstr>Cambria Math</vt:lpstr>
      <vt:lpstr>Garamond</vt:lpstr>
      <vt:lpstr>Office Theme</vt:lpstr>
      <vt:lpstr>Estadística Computacional</vt:lpstr>
      <vt:lpstr>B) MonteCarlo como técnica de integración y la maldición de la dimensionalidad</vt:lpstr>
      <vt:lpstr>Pregunta básica: ¿Cómo se compara MC crudo con otras técnicas determinísticas de integración?</vt:lpstr>
      <vt:lpstr>Técnicas de cuadratura</vt:lpstr>
      <vt:lpstr>Regla rectangular</vt:lpstr>
      <vt:lpstr>Regla trapecio</vt:lpstr>
      <vt:lpstr>Regla Simpson</vt:lpstr>
      <vt:lpstr>¿Cómo se determina la velocidad de convergencia?</vt:lpstr>
      <vt:lpstr>Teorema Taylor</vt:lpstr>
      <vt:lpstr>Integrales impropias</vt:lpstr>
      <vt:lpstr>PowerPoint Presentation</vt:lpstr>
      <vt:lpstr>Ejemplo… hagamos la función de acumulación de una normal</vt:lpstr>
      <vt:lpstr>Integrales múltiples</vt:lpstr>
      <vt:lpstr>Problema: Número de puntos necesarios</vt:lpstr>
      <vt:lpstr>PowerPoint Presentation</vt:lpstr>
      <vt:lpstr>Hagamos un programa recursivo…</vt:lpstr>
      <vt:lpstr>MonteCarlo la resuelve</vt:lpstr>
      <vt:lpstr>PowerPoint Presentation</vt:lpstr>
      <vt:lpstr>PowerPoint Presentation</vt:lpstr>
      <vt:lpstr>¿Cómo acelerar la convergencia en Monte Carlo?</vt:lpstr>
      <vt:lpstr>PowerPoint Presentation</vt:lpstr>
      <vt:lpstr>Cambiando la variable simulación… IMPORTANCE SAMPLING </vt:lpstr>
      <vt:lpstr>IMPORTANCE SAMPLING CON EL ENFOQUE DE INTEGRAL </vt:lpstr>
      <vt:lpstr>IMPORTANCE SAMPLING ENFOQUE PROBABILÍSTICO</vt:lpstr>
      <vt:lpstr>EN RESUMEN</vt:lpstr>
      <vt:lpstr>TRUCO PARA CALCULAR LOS PESOS w_i (pesos estandarizados)  </vt:lpstr>
      <vt:lpstr>Algotirmo final </vt:lpstr>
      <vt:lpstr>¿Cuál es la elección óptima de la variable aleatoria para simular?</vt:lpstr>
      <vt:lpstr>PowerPoint Presentation</vt:lpstr>
      <vt:lpstr>PowerPoint Presentation</vt:lpstr>
      <vt:lpstr>But real life hits…</vt:lpstr>
      <vt:lpstr>II. Variables de control</vt:lpstr>
      <vt:lpstr>PowerPoint Presentation</vt:lpstr>
      <vt:lpstr>PowerPoint Presentation</vt:lpstr>
      <vt:lpstr>PowerPoint Presentation</vt:lpstr>
      <vt:lpstr>Ejemplo</vt:lpstr>
      <vt:lpstr>PowerPoint Presentation</vt:lpstr>
      <vt:lpstr>PowerPoint Presentation</vt:lpstr>
      <vt:lpstr>Quasi-MonteCarlo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propedéutico</dc:title>
  <dc:creator>Mauricio García Tec</dc:creator>
  <cp:lastModifiedBy>Mauricio García Tec</cp:lastModifiedBy>
  <cp:revision>330</cp:revision>
  <dcterms:created xsi:type="dcterms:W3CDTF">2016-05-29T16:24:09Z</dcterms:created>
  <dcterms:modified xsi:type="dcterms:W3CDTF">2016-09-16T18:30:21Z</dcterms:modified>
</cp:coreProperties>
</file>