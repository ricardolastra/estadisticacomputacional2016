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1"/>
  </p:notesMasterIdLst>
  <p:sldIdLst>
    <p:sldId id="256" r:id="rId2"/>
    <p:sldId id="297" r:id="rId3"/>
    <p:sldId id="298" r:id="rId4"/>
    <p:sldId id="299" r:id="rId5"/>
    <p:sldId id="300" r:id="rId6"/>
    <p:sldId id="301" r:id="rId7"/>
    <p:sldId id="305" r:id="rId8"/>
    <p:sldId id="302" r:id="rId9"/>
    <p:sldId id="306" r:id="rId10"/>
    <p:sldId id="303" r:id="rId11"/>
    <p:sldId id="307" r:id="rId12"/>
    <p:sldId id="304" r:id="rId13"/>
    <p:sldId id="310" r:id="rId14"/>
    <p:sldId id="311" r:id="rId15"/>
    <p:sldId id="312" r:id="rId16"/>
    <p:sldId id="309" r:id="rId17"/>
    <p:sldId id="308" r:id="rId18"/>
    <p:sldId id="313" r:id="rId19"/>
    <p:sldId id="31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4C03FE-5F74-4FFA-ACBB-71B7FABF3CA5}">
          <p14:sldIdLst>
            <p14:sldId id="256"/>
            <p14:sldId id="297"/>
            <p14:sldId id="298"/>
            <p14:sldId id="299"/>
            <p14:sldId id="300"/>
            <p14:sldId id="301"/>
            <p14:sldId id="305"/>
            <p14:sldId id="302"/>
            <p14:sldId id="306"/>
            <p14:sldId id="303"/>
            <p14:sldId id="307"/>
            <p14:sldId id="304"/>
            <p14:sldId id="310"/>
            <p14:sldId id="311"/>
            <p14:sldId id="312"/>
            <p14:sldId id="309"/>
            <p14:sldId id="308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2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16-05-30T16:02:05.64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26 39 0,'-19'0'157,"19"-39"-126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FAF3-2354-A344-8D47-C53695DD29E3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5ED49-4AB3-C248-9765-49A40CC56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5ED49-4AB3-C248-9765-49A40CC563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2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7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7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049CF-D0CC-4618-B47A-958F7DBA7754}" type="datetimeFigureOut">
              <a:rPr lang="en-US" smtClean="0"/>
              <a:t>8/24/2016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0508A-214F-4F5A-93AB-064300391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988" y="2164360"/>
            <a:ext cx="5122411" cy="951320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Estadística</a:t>
            </a:r>
            <a:r>
              <a:rPr lang="en-US" sz="4800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Computacional</a:t>
            </a:r>
            <a:endParaRPr lang="en-US" sz="48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466" y="5061723"/>
            <a:ext cx="6858000" cy="1655762"/>
          </a:xfrm>
        </p:spPr>
        <p:txBody>
          <a:bodyPr/>
          <a:lstStyle/>
          <a:p>
            <a:endParaRPr lang="es-MX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Berlin Sans FB" panose="020E0602020502020306" pitchFamily="34" charset="0"/>
              </a:rPr>
              <a:t>Clase </a:t>
            </a:r>
            <a:r>
              <a:rPr lang="es-MX">
                <a:solidFill>
                  <a:schemeClr val="bg1"/>
                </a:solidFill>
                <a:latin typeface="Berlin Sans FB" panose="020E0602020502020306" pitchFamily="34" charset="0"/>
              </a:rPr>
              <a:t>2    2016/08/24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9146280" y="-75000"/>
              <a:ext cx="9720" cy="14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8000" y="-83280"/>
                <a:ext cx="2628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18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24"/>
    </mc:Choice>
    <mc:Fallback xmlns="">
      <p:transition spd="slow" advTm="399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600" y="2655322"/>
            <a:ext cx="6443269" cy="1325563"/>
          </a:xfrm>
        </p:spPr>
        <p:txBody>
          <a:bodyPr>
            <a:normAutofit/>
          </a:bodyPr>
          <a:lstStyle/>
          <a:p>
            <a:r>
              <a:rPr lang="es-MX" dirty="0"/>
              <a:t>II. Técnicas de Simulación (Revisión)</a:t>
            </a:r>
          </a:p>
        </p:txBody>
      </p:sp>
    </p:spTree>
    <p:extLst>
      <p:ext uri="{BB962C8B-B14F-4D97-AF65-F5344CB8AC3E}">
        <p14:creationId xmlns:p14="http://schemas.microsoft.com/office/powerpoint/2010/main" val="70500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Overview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Vamos a ver un resumen de lo que se espera que sepan de simulación de variables aleatorias.</a:t>
            </a:r>
          </a:p>
          <a:p>
            <a:r>
              <a:rPr lang="es-MX" b="1" dirty="0"/>
              <a:t>Objetivo: </a:t>
            </a:r>
            <a:r>
              <a:rPr lang="es-MX" dirty="0"/>
              <a:t>A partir de una distribución uniforme (0,1) queremos generar nuevas variables aleatorias.</a:t>
            </a:r>
          </a:p>
          <a:p>
            <a:endParaRPr lang="es-MX" b="1" dirty="0"/>
          </a:p>
          <a:p>
            <a:r>
              <a:rPr lang="es-MX" b="1" dirty="0"/>
              <a:t>Métodos: </a:t>
            </a:r>
          </a:p>
          <a:p>
            <a:r>
              <a:rPr lang="es-MX" dirty="0"/>
              <a:t>(1) Muestreo de variables discretas </a:t>
            </a:r>
          </a:p>
          <a:p>
            <a:r>
              <a:rPr lang="es-MX" dirty="0"/>
              <a:t>(2) Método de la Función Inversa</a:t>
            </a:r>
          </a:p>
          <a:p>
            <a:r>
              <a:rPr lang="es-MX" dirty="0"/>
              <a:t>(3) Muestreo Uniforme en regiones distintas a (0,1)</a:t>
            </a:r>
          </a:p>
          <a:p>
            <a:r>
              <a:rPr lang="es-MX" dirty="0"/>
              <a:t>(4) Aceptación-Rechazo</a:t>
            </a:r>
          </a:p>
        </p:txBody>
      </p:sp>
    </p:spTree>
    <p:extLst>
      <p:ext uri="{BB962C8B-B14F-4D97-AF65-F5344CB8AC3E}">
        <p14:creationId xmlns:p14="http://schemas.microsoft.com/office/powerpoint/2010/main" val="307078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variables queremos simular?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25" y="1825625"/>
            <a:ext cx="6938950" cy="4351338"/>
          </a:xfrm>
        </p:spPr>
      </p:pic>
    </p:spTree>
    <p:extLst>
      <p:ext uri="{BB962C8B-B14F-4D97-AF65-F5344CB8AC3E}">
        <p14:creationId xmlns:p14="http://schemas.microsoft.com/office/powerpoint/2010/main" val="94349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32" y="428418"/>
            <a:ext cx="7939018" cy="6176384"/>
          </a:xfrm>
        </p:spPr>
      </p:pic>
    </p:spTree>
    <p:extLst>
      <p:ext uri="{BB962C8B-B14F-4D97-AF65-F5344CB8AC3E}">
        <p14:creationId xmlns:p14="http://schemas.microsoft.com/office/powerpoint/2010/main" val="17343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(1) V.A. Discretas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9075"/>
            <a:ext cx="7886700" cy="4557888"/>
          </a:xfrm>
        </p:spPr>
        <p:txBody>
          <a:bodyPr/>
          <a:lstStyle/>
          <a:p>
            <a:pPr marL="0" indent="0">
              <a:buNone/>
            </a:pPr>
            <a:r>
              <a:rPr lang="es-MX" i="1" dirty="0"/>
              <a:t>¿Qué son </a:t>
            </a:r>
            <a:r>
              <a:rPr lang="es-MX" i="1" dirty="0" err="1"/>
              <a:t>v.a.</a:t>
            </a:r>
            <a:r>
              <a:rPr lang="es-MX" i="1" dirty="0"/>
              <a:t> discretas?</a:t>
            </a:r>
          </a:p>
        </p:txBody>
      </p:sp>
    </p:spTree>
    <p:extLst>
      <p:ext uri="{BB962C8B-B14F-4D97-AF65-F5344CB8AC3E}">
        <p14:creationId xmlns:p14="http://schemas.microsoft.com/office/powerpoint/2010/main" val="1256475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Estrategia para simularlas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Muy intuitivo….</a:t>
            </a:r>
          </a:p>
        </p:txBody>
      </p:sp>
    </p:spTree>
    <p:extLst>
      <p:ext uri="{BB962C8B-B14F-4D97-AF65-F5344CB8AC3E}">
        <p14:creationId xmlns:p14="http://schemas.microsoft.com/office/powerpoint/2010/main" val="299831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(2) Método de la función inversa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Queremos simular la distribución de una variable aleatoria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b="1" i="1" dirty="0"/>
                  <a:t>Supuesto:</a:t>
                </a:r>
                <a:r>
                  <a:rPr lang="es-MX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 es invertible</a:t>
                </a:r>
              </a:p>
              <a:p>
                <a:pPr marL="0" indent="0">
                  <a:buNone/>
                </a:pPr>
                <a:r>
                  <a:rPr lang="es-MX" dirty="0"/>
                  <a:t>(</a:t>
                </a:r>
                <a:r>
                  <a:rPr lang="es-MX" i="1" dirty="0"/>
                  <a:t>ahorita vemos que hacer si no es invertible…)</a:t>
                </a:r>
              </a:p>
              <a:p>
                <a:pPr marL="0" indent="0">
                  <a:buNone/>
                </a:pPr>
                <a:endParaRPr lang="es-MX" b="1" i="1" dirty="0"/>
              </a:p>
              <a:p>
                <a:pPr marL="0" indent="0">
                  <a:buNone/>
                </a:pPr>
                <a:r>
                  <a:rPr lang="es-MX" b="1" i="1" dirty="0"/>
                  <a:t>Objetivo:</a:t>
                </a:r>
                <a:r>
                  <a:rPr lang="es-MX" b="1" dirty="0"/>
                  <a:t> </a:t>
                </a:r>
                <a:r>
                  <a:rPr lang="es-MX" dirty="0"/>
                  <a:t>Dado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s-MX" b="1" i="1" dirty="0"/>
                  <a:t> </a:t>
                </a:r>
                <a:r>
                  <a:rPr lang="es-MX" dirty="0"/>
                  <a:t>encontrar una función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b="1" i="1" dirty="0"/>
                  <a:t> </a:t>
                </a:r>
                <a:r>
                  <a:rPr lang="es-MX" dirty="0"/>
                  <a:t>tal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/>
                  <a:t>, es decir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i="1" dirty="0"/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76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b="1" i="1" dirty="0"/>
                  <a:t>Solución</a:t>
                </a:r>
                <a:r>
                  <a:rPr lang="es-MX" b="1" dirty="0"/>
                  <a:t>: </a:t>
                </a:r>
                <a:r>
                  <a:rPr lang="es-MX" dirty="0"/>
                  <a:t>poner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293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(3) Simulación distribución uniforme en conjuntos arbitrarios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Supongamos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MX" dirty="0"/>
                  <a:t> y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.</a:t>
                </a:r>
              </a:p>
              <a:p>
                <a:pPr marL="0" indent="0">
                  <a:buNone/>
                </a:pPr>
                <a:r>
                  <a:rPr lang="es-MX" dirty="0"/>
                  <a:t>¿Cómo simularían uniforme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MX" dirty="0"/>
                  <a:t>? (</a:t>
                </a:r>
                <a:r>
                  <a:rPr lang="es-MX" i="1" dirty="0"/>
                  <a:t>Fácilmente</a:t>
                </a:r>
                <a:r>
                  <a:rPr lang="es-MX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0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58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(4) Aceptación Rechazo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Idea….</a:t>
                </a:r>
              </a:p>
              <a:p>
                <a:r>
                  <a:rPr lang="es-MX" b="1" dirty="0" err="1"/>
                  <a:t>Bottomline</a:t>
                </a:r>
                <a:r>
                  <a:rPr lang="es-MX" b="1" dirty="0"/>
                  <a:t>: </a:t>
                </a:r>
                <a:r>
                  <a:rPr lang="es-MX" dirty="0"/>
                  <a:t>Suponiendo que sabemos simular </a:t>
                </a:r>
                <a:r>
                  <a:rPr lang="es-MX" b="1" dirty="0"/>
                  <a:t>directamente </a:t>
                </a:r>
                <a:r>
                  <a:rPr lang="es-MX" dirty="0"/>
                  <a:t>de una </a:t>
                </a:r>
                <a:r>
                  <a:rPr lang="es-MX" dirty="0" err="1"/>
                  <a:t>v.a.</a:t>
                </a:r>
                <a:r>
                  <a:rPr lang="es-MX" dirty="0"/>
                  <a:t> con densidad 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b="1" dirty="0"/>
                  <a:t>, </a:t>
                </a:r>
                <a:r>
                  <a:rPr lang="es-MX" dirty="0"/>
                  <a:t>podemos otra densidad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dirty="0"/>
                  <a:t> </a:t>
                </a:r>
                <a:r>
                  <a:rPr lang="es-MX" b="1" dirty="0"/>
                  <a:t>indirectamente</a:t>
                </a:r>
                <a:r>
                  <a:rPr lang="es-MX" dirty="0"/>
                  <a:t> usando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dirty="0"/>
                  <a:t> siempre y cuando exista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1" i="0" smtClean="0">
                        <a:latin typeface="Cambria Math" panose="02040503050406030204" pitchFamily="18" charset="0"/>
                      </a:rPr>
                      <m:t>𝐦𝐚𝐲𝐨𝐫𝐢𝐜𝐞</m:t>
                    </m:r>
                    <m:r>
                      <a:rPr lang="es-MX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f</a:t>
                </a:r>
              </a:p>
              <a:p>
                <a:pPr marL="0" indent="0">
                  <a:buNone/>
                </a:pPr>
                <a:r>
                  <a:rPr lang="es-MX" dirty="0"/>
                  <a:t> </a:t>
                </a:r>
                <a:r>
                  <a:rPr lang="es-MX" dirty="0" err="1"/>
                  <a:t>mayorizar</a:t>
                </a:r>
                <a:r>
                  <a:rPr lang="es-MX" dirty="0"/>
                  <a:t>: </a:t>
                </a:r>
                <a:r>
                  <a:rPr lang="es-MX" i="1" dirty="0"/>
                  <a:t>existe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s-MX" i="1" dirty="0"/>
                  <a:t> tal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𝑀𝑔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i="1" dirty="0"/>
                  <a:t> para toda x.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69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90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204" y="71513"/>
            <a:ext cx="7886700" cy="1325563"/>
          </a:xfrm>
        </p:spPr>
        <p:txBody>
          <a:bodyPr/>
          <a:lstStyle/>
          <a:p>
            <a:r>
              <a:rPr lang="es-MX" dirty="0"/>
              <a:t>Intuición…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511204" y="1196451"/>
                <a:ext cx="7886700" cy="4351338"/>
              </a:xfrm>
            </p:spPr>
            <p:txBody>
              <a:bodyPr/>
              <a:lstStyle/>
              <a:p>
                <a:r>
                  <a:rPr lang="es-MX" dirty="0"/>
                  <a:t>Supongan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MX" dirty="0"/>
                  <a:t> de modo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MX" dirty="0"/>
              </a:p>
              <a:p>
                <a:r>
                  <a:rPr lang="es-MX" dirty="0"/>
                  <a:t>En la estación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MX" dirty="0"/>
                  <a:t> del metro hay un densidad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MX" dirty="0"/>
                  <a:t> de pasajeros y que con probabilidad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tienen que esperar el siguiente vagón. ¿Cuál es la densidad de pasajeros que se quedan en la estación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s-MX" dirty="0"/>
              </a:p>
              <a:p>
                <a:endParaRPr lang="es-MX" dirty="0"/>
              </a:p>
              <a:p>
                <a:pPr marL="0" indent="0">
                  <a:buNone/>
                </a:pPr>
                <a:endParaRPr lang="es-MX" i="1" dirty="0"/>
              </a:p>
              <a:p>
                <a:endParaRPr lang="es-MX" dirty="0"/>
              </a:p>
              <a:p>
                <a:endParaRPr lang="es-MX" dirty="0"/>
              </a:p>
              <a:p>
                <a:endParaRPr lang="es-MX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204" y="1196451"/>
                <a:ext cx="7886700" cy="4351338"/>
              </a:xfrm>
              <a:blipFill>
                <a:blip r:embed="rId2"/>
                <a:stretch>
                  <a:fillRect l="-1391" t="-2381" r="-20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ttp://www.kebuena.com.mx/wp-content/uploads/2016/02/metro-lleno-137485395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446" y="3629154"/>
            <a:ext cx="4008219" cy="292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149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Algoritmo para Aceptación Rechazo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831887"/>
            <a:ext cx="7886700" cy="2338814"/>
          </a:xfrm>
        </p:spPr>
      </p:pic>
    </p:spTree>
    <p:extLst>
      <p:ext uri="{BB962C8B-B14F-4D97-AF65-F5344CB8AC3E}">
        <p14:creationId xmlns:p14="http://schemas.microsoft.com/office/powerpoint/2010/main" val="1538289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3357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0629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Las matemáticas del método aceptación rechazo</a:t>
            </a:r>
            <a:br>
              <a:rPr lang="es-MX" dirty="0"/>
            </a:br>
            <a:endParaRPr lang="es-MX" dirty="0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371" y="1825625"/>
            <a:ext cx="5949258" cy="4351338"/>
          </a:xfrm>
        </p:spPr>
      </p:pic>
    </p:spTree>
    <p:extLst>
      <p:ext uri="{BB962C8B-B14F-4D97-AF65-F5344CB8AC3E}">
        <p14:creationId xmlns:p14="http://schemas.microsoft.com/office/powerpoint/2010/main" val="4238750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Ahora el denominador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4446"/>
            <a:ext cx="9144000" cy="32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2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Y junto da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MX" b="0" i="1" smtClean="0">
                        <a:latin typeface="Cambria Math" panose="02040503050406030204" pitchFamily="18" charset="0"/>
                      </a:rPr>
                      <m:t>𝑑𝑠</m:t>
                    </m:r>
                  </m:oMath>
                </a14:m>
                <a:endParaRPr lang="es-MX" dirty="0"/>
              </a:p>
              <a:p>
                <a:endParaRPr lang="es-MX" dirty="0"/>
              </a:p>
              <a:p>
                <a:endParaRPr lang="es-MX" dirty="0"/>
              </a:p>
              <a:p>
                <a:r>
                  <a:rPr lang="es-MX" dirty="0"/>
                  <a:t>Pero vamos a ver la intuición y cómo se conecta con el método anterior…..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84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174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Simulación por Monte Carlo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31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erlin Sans FB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AM_template" id="{7D120A73-849C-44A8-87A5-788BAA7B4F58}" vid="{4E4EBC5D-4B81-4724-9F37-7F7BD0002D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8154</TotalTime>
  <Words>245</Words>
  <Application>Microsoft Office PowerPoint</Application>
  <PresentationFormat>On-screen Show (4:3)</PresentationFormat>
  <Paragraphs>48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Berlin Sans FB</vt:lpstr>
      <vt:lpstr>Calibri</vt:lpstr>
      <vt:lpstr>Cambria Math</vt:lpstr>
      <vt:lpstr>Garamond</vt:lpstr>
      <vt:lpstr>Office Theme</vt:lpstr>
      <vt:lpstr>Estadística Computacional</vt:lpstr>
      <vt:lpstr>II. Técnicas de Simulación (Revisión)</vt:lpstr>
      <vt:lpstr>Overview</vt:lpstr>
      <vt:lpstr>¿Qué variables queremos simular?</vt:lpstr>
      <vt:lpstr>PowerPoint Presentation</vt:lpstr>
      <vt:lpstr>(1) V.A. Discretas</vt:lpstr>
      <vt:lpstr>Estrategia para simularlas</vt:lpstr>
      <vt:lpstr>(2) Método de la función inversa</vt:lpstr>
      <vt:lpstr>PowerPoint Presentation</vt:lpstr>
      <vt:lpstr>(3) Simulación distribución uniforme en conjuntos arbitrarios</vt:lpstr>
      <vt:lpstr>PowerPoint Presentation</vt:lpstr>
      <vt:lpstr>(4) Aceptación Rechazo</vt:lpstr>
      <vt:lpstr>Intuición…</vt:lpstr>
      <vt:lpstr>Algoritmo para Aceptación Rechazo</vt:lpstr>
      <vt:lpstr>PowerPoint Presentation</vt:lpstr>
      <vt:lpstr>Las matemáticas del método aceptación rechazo </vt:lpstr>
      <vt:lpstr>PowerPoint Presentation</vt:lpstr>
      <vt:lpstr>PowerPoint Presentation</vt:lpstr>
      <vt:lpstr>Simulación por Monte Carlo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propedéutico</dc:title>
  <dc:creator>Mauricio García Tec</dc:creator>
  <cp:lastModifiedBy>Mauricio García Tec</cp:lastModifiedBy>
  <cp:revision>267</cp:revision>
  <dcterms:created xsi:type="dcterms:W3CDTF">2016-05-29T16:24:09Z</dcterms:created>
  <dcterms:modified xsi:type="dcterms:W3CDTF">2016-08-25T02:03:37Z</dcterms:modified>
</cp:coreProperties>
</file>