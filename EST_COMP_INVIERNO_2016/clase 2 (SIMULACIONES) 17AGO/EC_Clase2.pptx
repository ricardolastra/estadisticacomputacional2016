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9"/>
  </p:notesMasterIdLst>
  <p:sldIdLst>
    <p:sldId id="256" r:id="rId2"/>
    <p:sldId id="273" r:id="rId3"/>
    <p:sldId id="277" r:id="rId4"/>
    <p:sldId id="265" r:id="rId5"/>
    <p:sldId id="290" r:id="rId6"/>
    <p:sldId id="286" r:id="rId7"/>
    <p:sldId id="292" r:id="rId8"/>
    <p:sldId id="291" r:id="rId9"/>
    <p:sldId id="295" r:id="rId10"/>
    <p:sldId id="296" r:id="rId11"/>
    <p:sldId id="293" r:id="rId12"/>
    <p:sldId id="297" r:id="rId13"/>
    <p:sldId id="298" r:id="rId14"/>
    <p:sldId id="299" r:id="rId15"/>
    <p:sldId id="300" r:id="rId16"/>
    <p:sldId id="301" r:id="rId17"/>
    <p:sldId id="305" r:id="rId18"/>
    <p:sldId id="302" r:id="rId19"/>
    <p:sldId id="306" r:id="rId20"/>
    <p:sldId id="303" r:id="rId21"/>
    <p:sldId id="307" r:id="rId22"/>
    <p:sldId id="304" r:id="rId23"/>
    <p:sldId id="310" r:id="rId24"/>
    <p:sldId id="311" r:id="rId25"/>
    <p:sldId id="312" r:id="rId26"/>
    <p:sldId id="309" r:id="rId27"/>
    <p:sldId id="30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C03FE-5F74-4FFA-ACBB-71B7FABF3CA5}">
          <p14:sldIdLst>
            <p14:sldId id="256"/>
            <p14:sldId id="273"/>
            <p14:sldId id="277"/>
            <p14:sldId id="265"/>
            <p14:sldId id="290"/>
            <p14:sldId id="286"/>
            <p14:sldId id="292"/>
            <p14:sldId id="291"/>
            <p14:sldId id="295"/>
            <p14:sldId id="296"/>
            <p14:sldId id="293"/>
            <p14:sldId id="297"/>
            <p14:sldId id="298"/>
            <p14:sldId id="299"/>
            <p14:sldId id="300"/>
            <p14:sldId id="301"/>
            <p14:sldId id="305"/>
            <p14:sldId id="302"/>
            <p14:sldId id="306"/>
            <p14:sldId id="303"/>
            <p14:sldId id="307"/>
            <p14:sldId id="304"/>
            <p14:sldId id="310"/>
            <p14:sldId id="311"/>
            <p14:sldId id="312"/>
            <p14:sldId id="309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2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8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5-30T16:02:05.64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26 39 0,'-19'0'157,"19"-39"-126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FAF3-2354-A344-8D47-C53695DD29E3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ED49-4AB3-C248-9765-49A40CC5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5ED49-4AB3-C248-9765-49A40CC56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7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049CF-D0CC-4618-B47A-958F7DBA7754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988" y="2164360"/>
            <a:ext cx="5122411" cy="951320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Estadística</a:t>
            </a:r>
            <a:r>
              <a:rPr lang="en-US" sz="48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Computacional</a:t>
            </a:r>
            <a:endParaRPr lang="en-US" sz="48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466" y="5061723"/>
            <a:ext cx="6858000" cy="1655762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Berlin Sans FB" panose="020E0602020502020306" pitchFamily="34" charset="0"/>
              </a:rPr>
              <a:t>Clase 2    2016/08/17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9146280" y="-75000"/>
              <a:ext cx="9720" cy="14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000" y="-83280"/>
                <a:ext cx="262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1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24"/>
    </mc:Choice>
    <mc:Fallback xmlns="">
      <p:transition spd="slow" advTm="39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 Última vez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probabilidad</a:t>
            </a:r>
            <a:r>
              <a:rPr lang="es-MX" dirty="0"/>
              <a:t> mide la incertidumbre de un “evento o conjunto de eventos”.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estadística</a:t>
            </a:r>
            <a:r>
              <a:rPr lang="es-MX" dirty="0"/>
              <a:t> busca conocer “algo” infiriendo a partir de “datos”. La estadística usa la probabilidad para medir la certeza que tenemos de conocer ese algo.</a:t>
            </a:r>
          </a:p>
        </p:txBody>
      </p:sp>
    </p:spTree>
    <p:extLst>
      <p:ext uri="{BB962C8B-B14F-4D97-AF65-F5344CB8AC3E}">
        <p14:creationId xmlns:p14="http://schemas.microsoft.com/office/powerpoint/2010/main" val="364339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</a:t>
            </a:r>
            <a:r>
              <a:rPr lang="es-MX" b="1" dirty="0"/>
              <a:t>simulación</a:t>
            </a:r>
            <a:r>
              <a:rPr lang="es-MX" dirty="0"/>
              <a:t> es el proceso de repetir un experimento de forma controlada múltiples veces con el fin de conocer “algo” que de forma directa no se puede saber, pero puede “inferirse” a partir de estas repeticiones.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Aún cuando teóricamente una cantidad sea posible conocerla, muchas veces el camino de la simulación es más sencillo.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943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86042"/>
            <a:ext cx="7886700" cy="1325563"/>
          </a:xfrm>
        </p:spPr>
        <p:txBody>
          <a:bodyPr/>
          <a:lstStyle/>
          <a:p>
            <a:r>
              <a:rPr lang="es-MX" dirty="0"/>
              <a:t>Estructura del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23885"/>
            <a:ext cx="7886700" cy="4287308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Generación de Números Aleatorios</a:t>
            </a:r>
          </a:p>
          <a:p>
            <a:r>
              <a:rPr lang="es-MX" dirty="0"/>
              <a:t>Simulación y Método de Monte Carlo</a:t>
            </a:r>
          </a:p>
          <a:p>
            <a:r>
              <a:rPr lang="es-MX" dirty="0"/>
              <a:t>Bootstrapping</a:t>
            </a:r>
          </a:p>
          <a:p>
            <a:r>
              <a:rPr lang="es-MX" dirty="0" err="1"/>
              <a:t>Markov</a:t>
            </a:r>
            <a:r>
              <a:rPr lang="es-MX" dirty="0"/>
              <a:t> </a:t>
            </a:r>
            <a:r>
              <a:rPr lang="es-MX" dirty="0" err="1"/>
              <a:t>Chain</a:t>
            </a:r>
            <a:r>
              <a:rPr lang="es-MX" dirty="0"/>
              <a:t> Monte Carlo y Aplicaciones</a:t>
            </a:r>
          </a:p>
          <a:p>
            <a:r>
              <a:rPr lang="es-MX" dirty="0"/>
              <a:t>Extras….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Habrá </a:t>
            </a:r>
            <a:r>
              <a:rPr lang="es-MX" b="1" dirty="0"/>
              <a:t>tareas</a:t>
            </a:r>
            <a:r>
              <a:rPr lang="es-MX" dirty="0"/>
              <a:t> cada semana o quince días. La forma de entrega la explicaré más adelante.</a:t>
            </a:r>
          </a:p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evaluación</a:t>
            </a:r>
            <a:r>
              <a:rPr lang="es-MX" dirty="0"/>
              <a:t> será un trabajo final por equipos y una revisión de sus tareas, ambos con 50% de peso (sujeto a cambios).</a:t>
            </a:r>
          </a:p>
        </p:txBody>
      </p:sp>
    </p:spTree>
    <p:extLst>
      <p:ext uri="{BB962C8B-B14F-4D97-AF65-F5344CB8AC3E}">
        <p14:creationId xmlns:p14="http://schemas.microsoft.com/office/powerpoint/2010/main" val="385869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Givens</a:t>
            </a:r>
            <a:r>
              <a:rPr lang="es-MX" dirty="0"/>
              <a:t> &amp; </a:t>
            </a:r>
            <a:r>
              <a:rPr lang="es-MX" dirty="0" err="1"/>
              <a:t>Hoeting</a:t>
            </a:r>
            <a:r>
              <a:rPr lang="es-MX" dirty="0"/>
              <a:t>. </a:t>
            </a:r>
            <a:r>
              <a:rPr lang="es-MX" i="1" dirty="0" err="1"/>
              <a:t>Computational</a:t>
            </a:r>
            <a:r>
              <a:rPr lang="es-MX" i="1" dirty="0"/>
              <a:t> </a:t>
            </a:r>
            <a:r>
              <a:rPr lang="es-MX" i="1" dirty="0" err="1"/>
              <a:t>Statistics</a:t>
            </a:r>
            <a:endParaRPr lang="es-MX" i="1" dirty="0"/>
          </a:p>
          <a:p>
            <a:r>
              <a:rPr lang="es-MX" dirty="0" err="1"/>
              <a:t>Eubank</a:t>
            </a:r>
            <a:r>
              <a:rPr lang="es-MX" dirty="0"/>
              <a:t> &amp; </a:t>
            </a:r>
            <a:r>
              <a:rPr lang="es-MX" dirty="0" err="1"/>
              <a:t>Kupresanin</a:t>
            </a:r>
            <a:r>
              <a:rPr lang="es-MX" dirty="0"/>
              <a:t>. </a:t>
            </a:r>
            <a:r>
              <a:rPr lang="es-MX" i="1" dirty="0" err="1"/>
              <a:t>Statistical</a:t>
            </a:r>
            <a:r>
              <a:rPr lang="es-MX" i="1" dirty="0"/>
              <a:t> Computing in C++ and R</a:t>
            </a:r>
          </a:p>
          <a:p>
            <a:r>
              <a:rPr lang="es-MX" dirty="0"/>
              <a:t>Rizzo</a:t>
            </a:r>
            <a:r>
              <a:rPr lang="es-MX" i="1" dirty="0"/>
              <a:t>. </a:t>
            </a:r>
            <a:r>
              <a:rPr lang="es-MX" i="1" dirty="0" err="1"/>
              <a:t>Statistical</a:t>
            </a:r>
            <a:r>
              <a:rPr lang="es-MX" i="1" dirty="0"/>
              <a:t> Computing </a:t>
            </a:r>
            <a:r>
              <a:rPr lang="es-MX" i="1" dirty="0" err="1"/>
              <a:t>with</a:t>
            </a:r>
            <a:r>
              <a:rPr lang="es-MX" i="1" dirty="0"/>
              <a:t> R</a:t>
            </a:r>
          </a:p>
          <a:p>
            <a:r>
              <a:rPr lang="es-MX" dirty="0"/>
              <a:t>Notas elaboradas por el profesor del curso.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788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MX" dirty="0"/>
            </a:br>
            <a:r>
              <a:rPr lang="es-MX" dirty="0"/>
              <a:t>Números </a:t>
            </a:r>
            <a:r>
              <a:rPr lang="es-MX" dirty="0" err="1"/>
              <a:t>pseudo</a:t>
            </a:r>
            <a:r>
              <a:rPr lang="es-MX" dirty="0"/>
              <a:t>-aleatorios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09371"/>
            <a:ext cx="7886700" cy="3767592"/>
          </a:xfrm>
        </p:spPr>
        <p:txBody>
          <a:bodyPr/>
          <a:lstStyle/>
          <a:p>
            <a:r>
              <a:rPr lang="es-MX" dirty="0"/>
              <a:t>Una secuencia de números es PSEUDO-ALEATORIA si fue construida a partir de un proceso determinístico, pero tiene propiedades similares a la de una sucesión de números aleatorios.</a:t>
            </a:r>
          </a:p>
        </p:txBody>
      </p:sp>
      <p:pic>
        <p:nvPicPr>
          <p:cNvPr id="12290" name="Picture 2" descr="http://pit-claudel.fr/clement/blog/images/pr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803" y="4176023"/>
            <a:ext cx="5896883" cy="200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03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98286"/>
            <a:ext cx="7886700" cy="5378677"/>
          </a:xfrm>
        </p:spPr>
        <p:txBody>
          <a:bodyPr/>
          <a:lstStyle/>
          <a:p>
            <a:r>
              <a:rPr lang="es-MX" dirty="0"/>
              <a:t>En el siguiente tema aprenderemos como replicar o “simular” distribuciones de variables aleatorias si se cuenta con una sucesión de números independiente e idénticamente distribuidos </a:t>
            </a:r>
            <a:r>
              <a:rPr lang="es-MX" dirty="0" err="1"/>
              <a:t>Unif</a:t>
            </a:r>
            <a:r>
              <a:rPr lang="es-MX" dirty="0"/>
              <a:t>(0,1)</a:t>
            </a:r>
          </a:p>
        </p:txBody>
      </p:sp>
      <p:pic>
        <p:nvPicPr>
          <p:cNvPr id="11266" name="Picture 2" descr="http://genedan.files.wordpress.com/2013/03/uni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514" y="2472629"/>
            <a:ext cx="5299982" cy="382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132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se le pide a un número </a:t>
            </a:r>
            <a:r>
              <a:rPr lang="es-MX" dirty="0" err="1"/>
              <a:t>pseudoaleatorio</a:t>
            </a:r>
            <a:r>
              <a:rPr lang="es-MX" dirty="0"/>
              <a:t>?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0" y="2177142"/>
            <a:ext cx="8944120" cy="2691475"/>
          </a:xfrm>
        </p:spPr>
      </p:pic>
    </p:spTree>
    <p:extLst>
      <p:ext uri="{BB962C8B-B14F-4D97-AF65-F5344CB8AC3E}">
        <p14:creationId xmlns:p14="http://schemas.microsoft.com/office/powerpoint/2010/main" val="348677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Implementación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Prácticamente todos los lenguajes de programación incluyen una función para crear números </a:t>
            </a:r>
            <a:r>
              <a:rPr lang="es-MX" b="1" dirty="0" err="1"/>
              <a:t>pseudoaleatorios</a:t>
            </a:r>
            <a:r>
              <a:rPr lang="es-MX" dirty="0"/>
              <a:t> </a:t>
            </a:r>
            <a:r>
              <a:rPr lang="es-MX" dirty="0" err="1"/>
              <a:t>Unif</a:t>
            </a:r>
            <a:r>
              <a:rPr lang="es-MX" dirty="0"/>
              <a:t>(0,1)</a:t>
            </a:r>
          </a:p>
          <a:p>
            <a:endParaRPr lang="es-MX" dirty="0"/>
          </a:p>
          <a:p>
            <a:r>
              <a:rPr lang="es-MX" dirty="0"/>
              <a:t>En R la función es </a:t>
            </a:r>
            <a:r>
              <a:rPr lang="es-MX" b="1" dirty="0" err="1"/>
              <a:t>runif</a:t>
            </a:r>
            <a:r>
              <a:rPr lang="es-MX" b="1" dirty="0"/>
              <a:t>.</a:t>
            </a:r>
          </a:p>
          <a:p>
            <a:endParaRPr lang="es-MX" b="1" dirty="0"/>
          </a:p>
          <a:p>
            <a:pPr marL="0" indent="0">
              <a:buNone/>
            </a:pPr>
            <a:endParaRPr lang="es-MX" b="1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4645926"/>
            <a:ext cx="8447314" cy="82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67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2457"/>
            <a:ext cx="7886700" cy="5204506"/>
          </a:xfrm>
        </p:spPr>
        <p:txBody>
          <a:bodyPr/>
          <a:lstStyle/>
          <a:p>
            <a:r>
              <a:rPr lang="es-MX" dirty="0"/>
              <a:t>En general es una terrible idea usar su propio métodos de creación de números </a:t>
            </a:r>
            <a:r>
              <a:rPr lang="es-MX" dirty="0" err="1"/>
              <a:t>pseudoaleatorios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A continuación veremos un método, el </a:t>
            </a:r>
            <a:r>
              <a:rPr lang="es-MX" b="1" dirty="0"/>
              <a:t>generador </a:t>
            </a:r>
            <a:r>
              <a:rPr lang="es-MX" b="1" dirty="0" err="1"/>
              <a:t>congruencial</a:t>
            </a:r>
            <a:r>
              <a:rPr lang="es-MX" b="1" dirty="0"/>
              <a:t> lineal</a:t>
            </a:r>
            <a:r>
              <a:rPr lang="es-MX" dirty="0"/>
              <a:t> para hacer números  para ilustrar el espíritu de los métodos. 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Los métodos profesionales son bastante más complejos y han sido probados una y otra vez desde muchos puntos de vista. El generador de R es muy bueno y usar </a:t>
            </a:r>
            <a:r>
              <a:rPr lang="es-MX" i="1" dirty="0" err="1"/>
              <a:t>Mersenne</a:t>
            </a:r>
            <a:r>
              <a:rPr lang="es-MX" i="1" dirty="0"/>
              <a:t> </a:t>
            </a:r>
            <a:r>
              <a:rPr lang="es-MX" i="1" dirty="0" err="1"/>
              <a:t>Twister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408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Generador </a:t>
            </a:r>
            <a:r>
              <a:rPr lang="es-MX" dirty="0" err="1"/>
              <a:t>Congruencial</a:t>
            </a:r>
            <a:r>
              <a:rPr lang="es-MX" dirty="0"/>
              <a:t> Lineal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6" y="1690691"/>
            <a:ext cx="8515350" cy="207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1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600" y="2655322"/>
            <a:ext cx="6443269" cy="1325563"/>
          </a:xfrm>
        </p:spPr>
        <p:txBody>
          <a:bodyPr/>
          <a:lstStyle/>
          <a:p>
            <a:r>
              <a:rPr lang="es-MX" dirty="0"/>
              <a:t>II. Técnicas de Simulación</a:t>
            </a:r>
          </a:p>
        </p:txBody>
      </p:sp>
    </p:spTree>
    <p:extLst>
      <p:ext uri="{BB962C8B-B14F-4D97-AF65-F5344CB8AC3E}">
        <p14:creationId xmlns:p14="http://schemas.microsoft.com/office/powerpoint/2010/main" val="70500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Overview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Vamos a ver un resumen de lo que se espera que sepan de simulación de variables aleatorias.</a:t>
            </a:r>
          </a:p>
          <a:p>
            <a:r>
              <a:rPr lang="es-MX" b="1" dirty="0"/>
              <a:t>Objetivo: </a:t>
            </a:r>
            <a:r>
              <a:rPr lang="es-MX" dirty="0"/>
              <a:t>A partir de una distribución uniforme (0,1) queremos generar nuevas variables aleatorias.</a:t>
            </a:r>
          </a:p>
          <a:p>
            <a:endParaRPr lang="es-MX" b="1" dirty="0"/>
          </a:p>
          <a:p>
            <a:r>
              <a:rPr lang="es-MX" b="1" dirty="0"/>
              <a:t>Métodos: </a:t>
            </a:r>
          </a:p>
          <a:p>
            <a:r>
              <a:rPr lang="es-MX" dirty="0"/>
              <a:t>(1) Muestreo de variables discretas </a:t>
            </a:r>
          </a:p>
          <a:p>
            <a:r>
              <a:rPr lang="es-MX" dirty="0"/>
              <a:t>(2) Método de la Función Inversa</a:t>
            </a:r>
          </a:p>
          <a:p>
            <a:r>
              <a:rPr lang="es-MX" dirty="0"/>
              <a:t>(3) Muestreo Uniforme en regiones distintas a (0,1)</a:t>
            </a:r>
          </a:p>
          <a:p>
            <a:r>
              <a:rPr lang="es-MX" dirty="0"/>
              <a:t>(4) Aceptación-Rechazo</a:t>
            </a:r>
          </a:p>
        </p:txBody>
      </p:sp>
    </p:spTree>
    <p:extLst>
      <p:ext uri="{BB962C8B-B14F-4D97-AF65-F5344CB8AC3E}">
        <p14:creationId xmlns:p14="http://schemas.microsoft.com/office/powerpoint/2010/main" val="307078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variables queremos simular?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25" y="1825625"/>
            <a:ext cx="6938950" cy="4351338"/>
          </a:xfrm>
        </p:spPr>
      </p:pic>
    </p:spTree>
    <p:extLst>
      <p:ext uri="{BB962C8B-B14F-4D97-AF65-F5344CB8AC3E}">
        <p14:creationId xmlns:p14="http://schemas.microsoft.com/office/powerpoint/2010/main" val="943492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32" y="428418"/>
            <a:ext cx="7939018" cy="6176384"/>
          </a:xfrm>
        </p:spPr>
      </p:pic>
    </p:spTree>
    <p:extLst>
      <p:ext uri="{BB962C8B-B14F-4D97-AF65-F5344CB8AC3E}">
        <p14:creationId xmlns:p14="http://schemas.microsoft.com/office/powerpoint/2010/main" val="173436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(1) V.A. Discretas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9075"/>
            <a:ext cx="7886700" cy="4557888"/>
          </a:xfrm>
        </p:spPr>
        <p:txBody>
          <a:bodyPr/>
          <a:lstStyle/>
          <a:p>
            <a:pPr marL="0" indent="0">
              <a:buNone/>
            </a:pPr>
            <a:r>
              <a:rPr lang="es-MX" i="1" dirty="0"/>
              <a:t>¿Qué son </a:t>
            </a:r>
            <a:r>
              <a:rPr lang="es-MX" i="1" dirty="0" err="1"/>
              <a:t>v.a.</a:t>
            </a:r>
            <a:r>
              <a:rPr lang="es-MX" i="1" dirty="0"/>
              <a:t> discretas?</a:t>
            </a:r>
          </a:p>
        </p:txBody>
      </p:sp>
    </p:spTree>
    <p:extLst>
      <p:ext uri="{BB962C8B-B14F-4D97-AF65-F5344CB8AC3E}">
        <p14:creationId xmlns:p14="http://schemas.microsoft.com/office/powerpoint/2010/main" val="125647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Estrategia para simularlas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Muy intuitivo….</a:t>
            </a:r>
          </a:p>
        </p:txBody>
      </p:sp>
    </p:spTree>
    <p:extLst>
      <p:ext uri="{BB962C8B-B14F-4D97-AF65-F5344CB8AC3E}">
        <p14:creationId xmlns:p14="http://schemas.microsoft.com/office/powerpoint/2010/main" val="299831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(2) Método de la función inversa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Queremos simular la distribución de una variable aleatoria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b="1" i="1" dirty="0"/>
                  <a:t>Supuesto:</a:t>
                </a:r>
                <a:r>
                  <a:rPr lang="es-MX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es invertible</a:t>
                </a:r>
              </a:p>
              <a:p>
                <a:pPr marL="0" indent="0">
                  <a:buNone/>
                </a:pPr>
                <a:r>
                  <a:rPr lang="es-MX" dirty="0"/>
                  <a:t>(</a:t>
                </a:r>
                <a:r>
                  <a:rPr lang="es-MX" i="1" dirty="0"/>
                  <a:t>ahorita vemos que hacer si no es invertible…)</a:t>
                </a:r>
              </a:p>
              <a:p>
                <a:pPr marL="0" indent="0">
                  <a:buNone/>
                </a:pPr>
                <a:endParaRPr lang="es-MX" b="1" i="1" dirty="0"/>
              </a:p>
              <a:p>
                <a:pPr marL="0" indent="0">
                  <a:buNone/>
                </a:pPr>
                <a:r>
                  <a:rPr lang="es-MX" b="1" i="1" dirty="0"/>
                  <a:t>Objetivo:</a:t>
                </a:r>
                <a:r>
                  <a:rPr lang="es-MX" b="1" dirty="0"/>
                  <a:t> </a:t>
                </a:r>
                <a:r>
                  <a:rPr lang="es-MX" dirty="0"/>
                  <a:t>Dado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s-MX" b="1" i="1" dirty="0"/>
                  <a:t> </a:t>
                </a:r>
                <a:r>
                  <a:rPr lang="es-MX" dirty="0"/>
                  <a:t>encontrar una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i="1" dirty="0"/>
                  <a:t> </a:t>
                </a:r>
                <a:r>
                  <a:rPr lang="es-MX" dirty="0"/>
                  <a:t>tal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/>
                  <a:t>, es decir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i="1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76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 i="1" dirty="0"/>
                  <a:t>Solución</a:t>
                </a:r>
                <a:r>
                  <a:rPr lang="es-MX" b="1" dirty="0"/>
                  <a:t>: </a:t>
                </a:r>
                <a:r>
                  <a:rPr lang="es-MX" dirty="0"/>
                  <a:t>poner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b="1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293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(3) Simulación distribución uniforme en conjuntos arbitrarios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Supongamos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MX" dirty="0"/>
                  <a:t> y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.</a:t>
                </a:r>
              </a:p>
              <a:p>
                <a:pPr marL="0" indent="0">
                  <a:buNone/>
                </a:pPr>
                <a:r>
                  <a:rPr lang="es-MX" dirty="0"/>
                  <a:t>¿Cómo simularían uniforme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MX" dirty="0"/>
                  <a:t>? (</a:t>
                </a:r>
                <a:r>
                  <a:rPr lang="es-MX" i="1" dirty="0"/>
                  <a:t>Fácilmente</a:t>
                </a:r>
                <a:r>
                  <a:rPr lang="es-MX"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06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587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(4) Aceptación Rechazo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Idea….</a:t>
                </a:r>
              </a:p>
              <a:p>
                <a:r>
                  <a:rPr lang="es-MX" b="1" dirty="0" err="1"/>
                  <a:t>Bottomline</a:t>
                </a:r>
                <a:r>
                  <a:rPr lang="es-MX" b="1" dirty="0"/>
                  <a:t>: </a:t>
                </a:r>
                <a:r>
                  <a:rPr lang="es-MX" dirty="0"/>
                  <a:t>Suponiendo que sabemos simular </a:t>
                </a:r>
                <a:r>
                  <a:rPr lang="es-MX" b="1" dirty="0"/>
                  <a:t>directamente </a:t>
                </a:r>
                <a:r>
                  <a:rPr lang="es-MX" dirty="0"/>
                  <a:t>de una </a:t>
                </a:r>
                <a:r>
                  <a:rPr lang="es-MX" dirty="0" err="1"/>
                  <a:t>v.a.</a:t>
                </a:r>
                <a:r>
                  <a:rPr lang="es-MX" dirty="0"/>
                  <a:t> con densidad 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b="1" dirty="0"/>
                  <a:t>, </a:t>
                </a:r>
                <a:r>
                  <a:rPr lang="es-MX" dirty="0"/>
                  <a:t>podemos otra densidad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dirty="0"/>
                  <a:t> </a:t>
                </a:r>
                <a:r>
                  <a:rPr lang="es-MX" b="1" dirty="0"/>
                  <a:t>indirectamente</a:t>
                </a:r>
                <a:r>
                  <a:rPr lang="es-MX" dirty="0"/>
                  <a:t> usando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siempre y cuando exista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1" i="0" smtClean="0">
                        <a:latin typeface="Cambria Math" panose="02040503050406030204" pitchFamily="18" charset="0"/>
                      </a:rPr>
                      <m:t>𝐦𝐚𝐲𝐨𝐫𝐢𝐜𝐞</m:t>
                    </m:r>
                    <m:r>
                      <a:rPr lang="es-MX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f</a:t>
                </a:r>
              </a:p>
              <a:p>
                <a:pPr marL="0" indent="0">
                  <a:buNone/>
                </a:pPr>
                <a:r>
                  <a:rPr lang="es-MX" dirty="0"/>
                  <a:t> </a:t>
                </a:r>
                <a:r>
                  <a:rPr lang="es-MX" dirty="0" err="1"/>
                  <a:t>mayorizar</a:t>
                </a:r>
                <a:r>
                  <a:rPr lang="es-MX" dirty="0"/>
                  <a:t>: </a:t>
                </a:r>
                <a:r>
                  <a:rPr lang="es-MX" i="1" dirty="0"/>
                  <a:t>existe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s-MX" i="1" dirty="0"/>
                  <a:t> tal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i="1" dirty="0"/>
                  <a:t> para toda x.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6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901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04" y="71513"/>
            <a:ext cx="7886700" cy="1325563"/>
          </a:xfrm>
        </p:spPr>
        <p:txBody>
          <a:bodyPr/>
          <a:lstStyle/>
          <a:p>
            <a:r>
              <a:rPr lang="es-MX" dirty="0"/>
              <a:t>Intuición…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511204" y="1196451"/>
                <a:ext cx="7886700" cy="4351338"/>
              </a:xfrm>
            </p:spPr>
            <p:txBody>
              <a:bodyPr/>
              <a:lstStyle/>
              <a:p>
                <a:r>
                  <a:rPr lang="es-MX" dirty="0"/>
                  <a:t>Supongan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MX" dirty="0"/>
                  <a:t> de modo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MX" dirty="0"/>
              </a:p>
              <a:p>
                <a:r>
                  <a:rPr lang="es-MX" dirty="0"/>
                  <a:t>En la estación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MX" dirty="0"/>
                  <a:t> del metro hay un densidad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MX" dirty="0"/>
                  <a:t> de pasajeros y que con probabilidad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tienen que esperar el siguiente vagón. ¿Cuál es la densidad de pasajeros que se quedan en la estación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s-MX" dirty="0"/>
              </a:p>
              <a:p>
                <a:endParaRPr lang="es-MX" dirty="0"/>
              </a:p>
              <a:p>
                <a:pPr marL="0" indent="0">
                  <a:buNone/>
                </a:pPr>
                <a:endParaRPr lang="es-MX" i="1" dirty="0"/>
              </a:p>
              <a:p>
                <a:endParaRPr lang="es-MX" dirty="0"/>
              </a:p>
              <a:p>
                <a:endParaRPr lang="es-MX" dirty="0"/>
              </a:p>
              <a:p>
                <a:endParaRPr lang="es-MX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04" y="1196451"/>
                <a:ext cx="7886700" cy="4351338"/>
              </a:xfrm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ttp://www.kebuena.com.mx/wp-content/uploads/2016/02/metro-lleno-137485395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446" y="3629154"/>
            <a:ext cx="4008219" cy="292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149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Algoritmo para Aceptación Rechazo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31887"/>
            <a:ext cx="7886700" cy="2338814"/>
          </a:xfrm>
        </p:spPr>
      </p:pic>
    </p:spTree>
    <p:extLst>
      <p:ext uri="{BB962C8B-B14F-4D97-AF65-F5344CB8AC3E}">
        <p14:creationId xmlns:p14="http://schemas.microsoft.com/office/powerpoint/2010/main" val="1538289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3357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MX" dirty="0"/>
                  <a:t>Programar el método de la Función Inversa para generar distribuciones Exponenciales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s-MX" dirty="0"/>
                  <a:t> (el parámetro elegido por el usuario).</a:t>
                </a:r>
              </a:p>
              <a:p>
                <a:r>
                  <a:rPr lang="es-MX" dirty="0"/>
                  <a:t>Usar el método de aceptación-rechazo para generar de una distribución beta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.</a:t>
                </a:r>
              </a:p>
              <a:p>
                <a:r>
                  <a:rPr lang="es-MX" dirty="0"/>
                  <a:t>Investigar pruebas de bondad de ajuste y verificar que sus simulaciones son correctas. Mostrar también un histograma de las simulaciones. </a:t>
                </a:r>
              </a:p>
              <a:p>
                <a:r>
                  <a:rPr lang="es-MX" dirty="0"/>
                  <a:t>El número de simulaciones debe estar dado por el usuario.</a:t>
                </a:r>
              </a:p>
              <a:p>
                <a:r>
                  <a:rPr lang="es-MX" dirty="0"/>
                  <a:t>Su tarea debe presentarse en un </a:t>
                </a:r>
                <a:r>
                  <a:rPr lang="es-MX" dirty="0" err="1"/>
                  <a:t>Shiny</a:t>
                </a:r>
                <a:r>
                  <a:rPr lang="es-MX" dirty="0"/>
                  <a:t> que debe estar en su cuenta de </a:t>
                </a:r>
                <a:r>
                  <a:rPr lang="es-MX" dirty="0" err="1"/>
                  <a:t>github</a:t>
                </a:r>
                <a:r>
                  <a:rPr lang="es-MX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01" r="-115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750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5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erlin Sans FB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AM_template" id="{7D120A73-849C-44A8-87A5-788BAA7B4F58}" vid="{4E4EBC5D-4B81-4724-9F37-7F7BD0002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7854</TotalTime>
  <Words>607</Words>
  <Application>Microsoft Office PowerPoint</Application>
  <PresentationFormat>On-screen Show (4:3)</PresentationFormat>
  <Paragraphs>84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Berlin Sans FB</vt:lpstr>
      <vt:lpstr>Calibri</vt:lpstr>
      <vt:lpstr>Cambria Math</vt:lpstr>
      <vt:lpstr>Garamond</vt:lpstr>
      <vt:lpstr>Office Theme</vt:lpstr>
      <vt:lpstr>Estadística Computacional</vt:lpstr>
      <vt:lpstr>Resumen Última vez</vt:lpstr>
      <vt:lpstr>PowerPoint Presentation</vt:lpstr>
      <vt:lpstr>Estructura del curso</vt:lpstr>
      <vt:lpstr>Bibliografía</vt:lpstr>
      <vt:lpstr> Números pseudo-aleatorios</vt:lpstr>
      <vt:lpstr>PowerPoint Presentation</vt:lpstr>
      <vt:lpstr>¿Qué se le pide a un número pseudoaleatorio?</vt:lpstr>
      <vt:lpstr>Implementación</vt:lpstr>
      <vt:lpstr>PowerPoint Presentation</vt:lpstr>
      <vt:lpstr>Generador Congruencial Lineal</vt:lpstr>
      <vt:lpstr>II. Técnicas de Simulación</vt:lpstr>
      <vt:lpstr>Overview</vt:lpstr>
      <vt:lpstr>¿Qué variables queremos simular?</vt:lpstr>
      <vt:lpstr>PowerPoint Presentation</vt:lpstr>
      <vt:lpstr>(1) V.A. Discretas</vt:lpstr>
      <vt:lpstr>Estrategia para simularlas</vt:lpstr>
      <vt:lpstr>(2) Método de la función inversa</vt:lpstr>
      <vt:lpstr>PowerPoint Presentation</vt:lpstr>
      <vt:lpstr>(3) Simulación distribución uniforme en conjuntos arbitrarios</vt:lpstr>
      <vt:lpstr>PowerPoint Presentation</vt:lpstr>
      <vt:lpstr>(4) Aceptación Rechazo</vt:lpstr>
      <vt:lpstr>Intuición…</vt:lpstr>
      <vt:lpstr>Algoritmo para Aceptación Rechazo</vt:lpstr>
      <vt:lpstr>PowerPoint Presentation</vt:lpstr>
      <vt:lpstr>Tarea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propedéutico</dc:title>
  <dc:creator>Mauricio García Tec</dc:creator>
  <cp:lastModifiedBy>Mauricio García Tec</cp:lastModifiedBy>
  <cp:revision>262</cp:revision>
  <dcterms:created xsi:type="dcterms:W3CDTF">2016-05-29T16:24:09Z</dcterms:created>
  <dcterms:modified xsi:type="dcterms:W3CDTF">2016-08-17T23:14:04Z</dcterms:modified>
</cp:coreProperties>
</file>